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19"/>
  </p:notesMasterIdLst>
  <p:handoutMasterIdLst>
    <p:handoutMasterId r:id="rId20"/>
  </p:handoutMasterIdLst>
  <p:sldIdLst>
    <p:sldId id="256" r:id="rId4"/>
    <p:sldId id="332" r:id="rId5"/>
    <p:sldId id="455" r:id="rId6"/>
    <p:sldId id="453" r:id="rId7"/>
    <p:sldId id="454" r:id="rId8"/>
    <p:sldId id="456" r:id="rId9"/>
    <p:sldId id="457" r:id="rId10"/>
    <p:sldId id="458" r:id="rId11"/>
    <p:sldId id="459" r:id="rId12"/>
    <p:sldId id="460" r:id="rId13"/>
    <p:sldId id="461" r:id="rId14"/>
    <p:sldId id="463" r:id="rId15"/>
    <p:sldId id="462" r:id="rId16"/>
    <p:sldId id="464" r:id="rId17"/>
    <p:sldId id="391" r:id="rId18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260F6-44C9-4807-89B0-ED619D47AF79}" type="datetimeFigureOut">
              <a:rPr lang="en-US" smtClean="0"/>
              <a:t>2020-11-06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2CE29-E497-4716-8CE4-F95A294BC2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43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3CECA-B456-4C20-B891-E56586F51E0A}" type="datetimeFigureOut">
              <a:rPr lang="en-US" smtClean="0"/>
              <a:pPr/>
              <a:t>2020-11-06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4F101-2D8D-450C-8C3B-18B64BF524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4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8A7956A-737B-48E4-B22E-522C2AE6D057}"/>
              </a:ext>
            </a:extLst>
          </p:cNvPr>
          <p:cNvGrpSpPr/>
          <p:nvPr/>
        </p:nvGrpSpPr>
        <p:grpSpPr>
          <a:xfrm>
            <a:off x="0" y="1676400"/>
            <a:ext cx="9144000" cy="4419600"/>
            <a:chOff x="0" y="15240"/>
            <a:chExt cx="12219216" cy="684276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2EBBA-0615-45DC-BCA3-37BF697E73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15240"/>
              <a:ext cx="12219216" cy="684276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C1EB87-8D19-4ECD-A009-C90361330B03}"/>
                </a:ext>
              </a:extLst>
            </p:cNvPr>
            <p:cNvSpPr/>
            <p:nvPr userDrawn="1"/>
          </p:nvSpPr>
          <p:spPr>
            <a:xfrm>
              <a:off x="4626591" y="2756848"/>
              <a:ext cx="3984009" cy="672152"/>
            </a:xfrm>
            <a:prstGeom prst="rect">
              <a:avLst/>
            </a:prstGeom>
            <a:solidFill>
              <a:srgbClr val="1E417A"/>
            </a:solidFill>
            <a:ln>
              <a:solidFill>
                <a:srgbClr val="1E41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5B5C9-301D-4919-9D5C-5248A8B6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DE8B9-D0E9-496F-BDDA-FC90AAA99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9014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3A8A-8D9D-4979-993C-53F1B4FE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533400"/>
            <a:ext cx="6915150" cy="60960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362F5-1DB2-428B-B5B8-4D646E42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7886700" cy="4953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/>
            </a:lvl1pPr>
            <a:lvl2pPr>
              <a:lnSpc>
                <a:spcPct val="100000"/>
              </a:lnSpc>
              <a:spcAft>
                <a:spcPts val="0"/>
              </a:spcAft>
              <a:defRPr/>
            </a:lvl2pPr>
            <a:lvl3pPr>
              <a:lnSpc>
                <a:spcPct val="100000"/>
              </a:lnSpc>
              <a:spcAft>
                <a:spcPts val="0"/>
              </a:spcAft>
              <a:defRPr/>
            </a:lvl3pPr>
            <a:lvl4pPr>
              <a:lnSpc>
                <a:spcPct val="100000"/>
              </a:lnSpc>
              <a:spcAft>
                <a:spcPts val="0"/>
              </a:spcAft>
              <a:defRPr/>
            </a:lvl4pPr>
            <a:lvl5pPr>
              <a:lnSpc>
                <a:spcPct val="10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FCAA0-5975-46CB-9C63-E26AB420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05E5-B4D5-46E5-9DAA-C6664471C285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ABA25-2A02-4266-9045-3C7B7C51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98991-4A8D-4634-9312-B807C089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CC7FE6-4FCF-42F0-A1DB-065779BAC05D}"/>
              </a:ext>
            </a:extLst>
          </p:cNvPr>
          <p:cNvCxnSpPr>
            <a:cxnSpLocks/>
          </p:cNvCxnSpPr>
          <p:nvPr/>
        </p:nvCxnSpPr>
        <p:spPr>
          <a:xfrm>
            <a:off x="228600" y="1143000"/>
            <a:ext cx="7734300" cy="0"/>
          </a:xfrm>
          <a:prstGeom prst="line">
            <a:avLst/>
          </a:prstGeom>
          <a:ln w="63500"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6F1000-6203-411C-9028-8865CCD616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023" y="0"/>
            <a:ext cx="919004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86EA3E-64CA-4F40-B76E-1133EDAF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5810250" cy="2276476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7ADCA-C90E-4A65-92A3-4F9F181B2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0DB4-DBDD-4AB9-AE0C-AAEB0A49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97F5-93EC-4C81-B174-791910875D4B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D614-E3E3-43C1-9DE0-34347C5B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0A16-D5FC-4F85-B872-8C4D658D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183498-28F4-4A72-92CD-A874444EA8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95" y="228548"/>
            <a:ext cx="2242457" cy="574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40FFC-F16E-4817-80BF-E547273A84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-30490"/>
            <a:ext cx="3678192" cy="10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7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B804-CA0E-4715-91B8-DDF66053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0F71-26EF-4D7B-8C87-175439B55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29A36-E0B8-4296-B0C9-D3EE5AC8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3504B-391D-4FDF-8408-A4027FD5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BB7-76A3-4F76-8531-9A64AF49D083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D6EAE-478E-46C1-8D07-786C3B02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B8A9-1B47-4AF2-BAC4-B3763A98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7C04-3EC7-4F28-BAE1-12130B26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093D9-2164-4A1E-9415-4BAC628CA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E527-0210-4543-8E5C-42B123E16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FA22B-BC9B-47EC-A1D0-B0E1DC6B7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8F29D-DEFE-414D-AD15-057C51B46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68581-1AB5-4C6F-8D71-7794B06C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B5B32-1045-46B5-B6F8-D560DE1C0261}" type="datetime1">
              <a:rPr lang="en-US" smtClean="0"/>
              <a:t>2020-11-06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3992-B31F-4912-82A2-8E1DEF45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CBF83-0FF1-4889-AB27-690DC066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0004-8048-4C25-B8F8-07A1730E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502E0-656B-43CE-AF5A-A3132CD3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E1C7-5543-40D7-AECD-DFD4A741704D}" type="datetime1">
              <a:rPr lang="en-US" smtClean="0"/>
              <a:t>2020-11-06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616CD-5B81-458E-91A9-A1975C07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40430-B88B-4F73-B297-503DF656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7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7925E-9708-47A3-94C4-3F053024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835FF-631C-4C9E-9C33-826E404EB5B8}" type="datetime1">
              <a:rPr lang="en-US" smtClean="0"/>
              <a:t>2020-11-06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F5E50-9313-497F-A267-821357BF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A3E51-50A3-4C6F-A9BF-32202648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5EBA-46CC-4A78-B228-0601DE9A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63413-CE29-43E4-A9EB-42BA54B85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B35C0-8A0F-42CC-A17F-CE582A8F0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63230-2E2C-4193-8506-001A379F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FF29-7F46-4E33-AD52-DD122DA2386B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22E08-7A49-4A08-88CC-E41689EB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7731-A4D0-4938-9C20-1FA45709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8E41-6A7E-4C64-A319-1A66F654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862E6-3922-4311-BD1F-451F2FCB9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B1D84-9142-41F9-8D5F-5D9039969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0923D-7849-4755-9284-D6C65F54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E234-0CB1-4BD8-9292-C4A62BD7A9C6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5D7E-22DA-4C50-88A9-63C012C5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9F8DE-F403-4FBF-A2D7-4847A719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32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7DD6-F34B-409E-9125-2DBD744A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5934E-7AB0-4C7E-8D53-05FCA35EC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36B1-D34C-4440-A89A-305ADD8A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6E0D-23EF-4532-8587-7E4D7B3AFEF0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BC98-D8EA-4803-A719-55D9CF46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B864E-D7B6-492E-82C7-2F1227E6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5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D1962-2E48-403D-ACD9-D5545245D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287F1-ED5A-41B1-9A4D-3B95B1674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BB8A-263D-4D43-9935-BC513E69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D2AA7-DE21-4FFB-933A-1403517184D2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654BA-B24F-4F51-9B74-CD7340D2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A243-F794-45F7-9B94-759FBF24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3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E1BBB-8888-4762-84A7-02DB1B77E343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295400" y="990600"/>
            <a:ext cx="7543800" cy="0"/>
          </a:xfrm>
          <a:prstGeom prst="line">
            <a:avLst/>
          </a:prstGeom>
          <a:ln w="508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173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314" y="217714"/>
            <a:ext cx="7772400" cy="838200"/>
          </a:xfrm>
        </p:spPr>
        <p:txBody>
          <a:bodyPr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59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D9D8A-127A-44D6-BDCA-A46B41A39AC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0D63CEA2-B190-446E-988A-AE981FEDC08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001485"/>
            <a:ext cx="8458200" cy="0"/>
          </a:xfrm>
          <a:prstGeom prst="line">
            <a:avLst/>
          </a:prstGeom>
          <a:ln w="508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37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59EC6-8F61-4F7D-8770-C7AC92DF49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EFBBB-9496-4689-A798-1FE0B5178481}" type="slidenum">
              <a:rPr lang="en-US" altLang="en-US"/>
              <a:pPr/>
              <a:t>‹#›</a:t>
            </a:fld>
            <a:endParaRPr lang="en-US" alt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46314" y="925286"/>
            <a:ext cx="8534400" cy="0"/>
          </a:xfrm>
          <a:prstGeom prst="line">
            <a:avLst/>
          </a:prstGeom>
          <a:ln w="508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85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E1A4E-B20E-4CDA-AC54-8ED7F6FDCD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06351-61C5-46BF-9AE3-3FBF1811A7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781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20574-05EC-432F-8974-72CE80C0FE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FDDBF-4B84-4967-980E-EED8B883E4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3658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BD498-0A88-4590-A110-98DD983D591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9683B-BFA9-4003-8396-2DCC26D0EA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914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6CEFE-B815-4E57-A82E-3665152A46A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1EB63-D90E-4B3B-8FDE-8AFE84F9ED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094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38DC9-0009-4F43-9B67-73E1D49E9F3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80E203-517A-4EB6-847D-277D58442A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756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AF580-71A2-444F-A76E-245EE24C8C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388BF-3C66-491E-8EA9-9B587CD980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503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80432-6F23-4820-9788-A26F01222E7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40D8B-DAD9-42B1-AFCB-2F403B2648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373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17039-DFAE-4CFC-94F4-3B39AF0C8A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D2C121-53EC-41B7-A049-308DE65D11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103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8A86B-319E-461F-B29F-8F95CF4E31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0C01E-DEA3-4B54-B84E-20F8A317AD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899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A6179-45BF-4C27-993D-0BD4C0F8D83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EDF7E-F0B2-46CE-8C8B-6A27622018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2596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59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5EF7-86AA-46F3-9763-E255ACCB08FD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1F604-D907-4814-A2FA-CAABD1F057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092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C7498-E44F-4152-B02F-5F45D4E7F392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3D575-D896-4DD7-9B23-6F4E8F41E2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385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39F7F-7036-47F3-8C31-046D364C0054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AA57A-B08C-4631-9664-78F05E26C0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18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E4723-9725-4489-B8B3-74190F66DB60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5A927-46BB-4438-9EF7-0111C7C3AF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522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9FC82-4034-4C39-8F96-C829D3D47DD7}" type="datetime1">
              <a:rPr lang="en-US" smtClean="0"/>
              <a:t>2020-11-06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FF9D5-2088-4BF5-982E-0DBC07C784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7426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C6359-2112-465C-88BA-EC4FFD1B23D3}" type="datetime1">
              <a:rPr lang="en-US" smtClean="0"/>
              <a:t>2020-11-06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2601C-B815-4037-963E-16855F3DCB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3760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81F45-0265-4F42-971F-83B1E6D487AB}" type="datetime1">
              <a:rPr lang="en-US" smtClean="0"/>
              <a:t>2020-11-06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5221D-0DAF-447C-A187-EBAF4F7AEB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5307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5E4FA-4F5B-43AE-AFEB-93416FB65E55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F8BF0-A685-48C1-8377-3A1B91467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970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37DDD-1DE6-4984-8DB3-93B1059C2027}" type="datetime1">
              <a:rPr lang="en-US" smtClean="0"/>
              <a:t>2020-11-06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22266-52AA-4A33-84E9-45B28D9DBF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663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C2DBD-F345-4FC2-8E35-8C6F02467C37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67FEB-CFF4-4C23-9F36-FBEF47197C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8083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3BB81-3C72-46B1-AC18-6B6C8EE96580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98B2A-C2ED-4DA2-A997-0232188A78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7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2F6DB-8340-4921-B246-DAC7805B0F0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EDF7E-F0B2-46CE-8C8B-6A27622018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84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D08FA-C501-480C-A5A2-197C2D36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1B535-2F2E-4AF5-B9E0-F9F099634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26374-5C98-4A98-B6DD-2D5769233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83BB09C-3D87-4686-94B8-34A32F603011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48147-6C3C-4929-B440-8EC20F2DF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CC3B8-56E5-4409-B161-830C99F4C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A737E9D-9918-4D00-85A4-CE373AB2C49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183498-28F4-4A72-92CD-A874444EA8E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95" y="259038"/>
            <a:ext cx="2242457" cy="574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40FFC-F16E-4817-80BF-E547273A84E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3678192" cy="10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8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77932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1D29FC3-34D0-426C-B870-CE7CABEFC3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2020-11-06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600" b="1">
                <a:solidFill>
                  <a:srgbClr val="002060"/>
                </a:solidFill>
                <a:latin typeface="Calibri" panose="020F0502020204030204" pitchFamily="34" charset="0"/>
              </a:defRPr>
            </a:lvl1pPr>
          </a:lstStyle>
          <a:p>
            <a:fld id="{862FC848-B0EC-48B9-AB81-515881DF4BD9}" type="slidenum">
              <a:rPr lang="en-US" altLang="en-US" smtClean="0">
                <a:cs typeface="Arial" panose="020B0604020202020204" pitchFamily="34" charset="0"/>
              </a:rPr>
              <a:pPr/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183498-28F4-4A72-92CD-A874444EA8E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895" y="172659"/>
            <a:ext cx="2242457" cy="5743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F40FFC-F16E-4817-80BF-E547273A84E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-86379"/>
            <a:ext cx="3678192" cy="10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2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12106C-8720-454E-B58E-3987A7AC4E01}" type="datetime1">
              <a:rPr lang="en-US" smtClean="0"/>
              <a:t>2020-11-06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b="1">
                <a:solidFill>
                  <a:srgbClr val="002060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EADDFC9-9522-423D-AF71-66FCB416E2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20301"/>
            <a:ext cx="1909942" cy="67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6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eoblue.com/en/weather/week/da-nang_vietnam_1583992" TargetMode="External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5" y="2667000"/>
            <a:ext cx="8763000" cy="838200"/>
          </a:xfrm>
        </p:spPr>
        <p:txBody>
          <a:bodyPr>
            <a:normAutofit/>
          </a:bodyPr>
          <a:lstStyle/>
          <a:p>
            <a:r>
              <a:rPr lang="en-US" sz="4400" b="1"/>
              <a:t>Bài 4: </a:t>
            </a:r>
            <a:r>
              <a:rPr lang="en-US" sz="4400" b="1" smtClean="0"/>
              <a:t>PHẦN BÀI TẬP</a:t>
            </a:r>
            <a:endParaRPr lang="en-US" sz="5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114800"/>
            <a:ext cx="6400800" cy="969962"/>
          </a:xfrm>
        </p:spPr>
        <p:txBody>
          <a:bodyPr>
            <a:normAutofit/>
          </a:bodyPr>
          <a:lstStyle/>
          <a:p>
            <a:r>
              <a:rPr lang="en-US" sz="2000" b="1" smtClean="0"/>
              <a:t>namdv@aiacademy.edu.vn</a:t>
            </a:r>
            <a:endParaRPr lang="en-US" sz="18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604260" y="6532562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smtClean="0">
                <a:solidFill>
                  <a:srgbClr val="002060"/>
                </a:solidFill>
              </a:rPr>
              <a:t>11/2020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312988"/>
            <a:ext cx="6076950" cy="2276476"/>
          </a:xfrm>
        </p:spPr>
        <p:txBody>
          <a:bodyPr/>
          <a:lstStyle/>
          <a:p>
            <a:r>
              <a:rPr lang="en-US"/>
              <a:t>BÀI TẬP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F2B14B-82EA-4064-AC61-F81730F1C942}"/>
              </a:ext>
            </a:extLst>
          </p:cNvPr>
          <p:cNvSpPr txBox="1">
            <a:spLocks/>
          </p:cNvSpPr>
          <p:nvPr/>
        </p:nvSpPr>
        <p:spPr>
          <a:xfrm>
            <a:off x="152400" y="5486399"/>
            <a:ext cx="8485200" cy="869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u="none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0000"/>
                </a:solidFill>
                <a:latin typeface="Calibri (Headings)"/>
              </a:rPr>
              <a:t>Các file dữ liệu cho phần bài tập: Temp.txt | Diamonds.txt học viên </a:t>
            </a:r>
            <a:r>
              <a:rPr lang="en-US" sz="2000" b="1" smtClean="0">
                <a:solidFill>
                  <a:srgbClr val="FF0000"/>
                </a:solidFill>
                <a:latin typeface="Calibri (Headings)"/>
              </a:rPr>
              <a:t>sử dụng </a:t>
            </a:r>
            <a:r>
              <a:rPr lang="en-US" sz="2000" b="1" smtClean="0">
                <a:solidFill>
                  <a:srgbClr val="FF0000"/>
                </a:solidFill>
                <a:latin typeface="Calibri (Headings)"/>
              </a:rPr>
              <a:t>trong phần Data_Excercise </a:t>
            </a:r>
            <a:r>
              <a:rPr lang="en-US" sz="2000" b="1">
                <a:solidFill>
                  <a:srgbClr val="FF0000"/>
                </a:solidFill>
                <a:latin typeface="Calibri (Headings)"/>
              </a:rPr>
              <a:t>của bài học.</a:t>
            </a:r>
          </a:p>
        </p:txBody>
      </p:sp>
    </p:spTree>
    <p:extLst>
      <p:ext uri="{BB962C8B-B14F-4D97-AF65-F5344CB8AC3E}">
        <p14:creationId xmlns:p14="http://schemas.microsoft.com/office/powerpoint/2010/main" val="339429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6C1F-1045-46E6-A682-94878387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9752"/>
            <a:ext cx="8229600" cy="914400"/>
          </a:xfrm>
        </p:spPr>
        <p:txBody>
          <a:bodyPr>
            <a:normAutofit/>
          </a:bodyPr>
          <a:lstStyle/>
          <a:p>
            <a:pPr algn="l"/>
            <a:r>
              <a:rPr lang="en-US" sz="3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Bài Tập: Làm việc với numpy - 01</a:t>
            </a:r>
            <a:endParaRPr lang="vi-VN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2769"/>
            <a:ext cx="8485200" cy="457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>
                <a:latin typeface="Calibri (Headings)"/>
              </a:rPr>
              <a:t>File dữ liệu: Temp.txt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87186"/>
            <a:ext cx="8485200" cy="41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4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>
                <a:latin typeface="Calibri (Headings)"/>
              </a:rPr>
              <a:t>Mô tả file dữ liệu: Temp.txt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Calibri (Headings)"/>
                <a:cs typeface="Courier New" panose="02070309020205020404" pitchFamily="49" charset="0"/>
              </a:rPr>
              <a:t>File dữ liệu lưu trữ nhiệt độ (</a:t>
            </a:r>
            <a:r>
              <a:rPr lang="en-US" sz="2000" baseline="30000">
                <a:latin typeface="Calibri (Headings)"/>
                <a:cs typeface="Courier New" panose="02070309020205020404" pitchFamily="49" charset="0"/>
              </a:rPr>
              <a:t>o</a:t>
            </a:r>
            <a:r>
              <a:rPr lang="en-US" sz="2000">
                <a:latin typeface="Calibri (Headings)"/>
                <a:cs typeface="Courier New" panose="02070309020205020404" pitchFamily="49" charset="0"/>
              </a:rPr>
              <a:t>C) của 6 thành phố lớn dọc theo nước Việt Nam là: Hà Nội, Vinh, Đà Nẵng, Nha trang, Hồ Chính Minh và Cà Mau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Calibri (Headings)"/>
                <a:cs typeface="Courier New" panose="02070309020205020404" pitchFamily="49" charset="0"/>
              </a:rPr>
              <a:t>Thời gian từ 0h ngày 15/09/2019 tới 23h ngày 22/09/2019</a:t>
            </a:r>
            <a:endParaRPr lang="vi-VN" sz="2000">
              <a:latin typeface="Calibri (Headings)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119409"/>
            <a:ext cx="5656118" cy="30953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391303"/>
            <a:ext cx="8458200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>
                <a:latin typeface="Calibri (Headings)"/>
                <a:cs typeface="Courier New" panose="02070309020205020404" pitchFamily="49" charset="0"/>
              </a:rPr>
              <a:t>(</a:t>
            </a:r>
            <a:r>
              <a:rPr lang="en-US">
                <a:hlinkClick r:id="rId3"/>
              </a:rPr>
              <a:t>https://www.meteoblue.com/en/weather/week/da-nang_vietnam_1583992</a:t>
            </a:r>
            <a:r>
              <a:rPr lang="en-US"/>
              <a:t>)</a:t>
            </a:r>
            <a:endParaRPr lang="vi-VN">
              <a:latin typeface="Calibri (Headings)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36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2582"/>
            <a:ext cx="8229600" cy="533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>
                <a:latin typeface="Calibri (Headings)"/>
              </a:rPr>
              <a:t>Mô tả file dữ liệu: Temp.txt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31790"/>
          <a:stretch/>
        </p:blipFill>
        <p:spPr>
          <a:xfrm>
            <a:off x="319619" y="1743325"/>
            <a:ext cx="8504762" cy="40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2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686"/>
            <a:ext cx="8229600" cy="137242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1) Đọc dữ liệu lưu trữ trong file Temp.txt vào </a:t>
            </a:r>
            <a:r>
              <a:rPr lang="en-US" sz="2400" smtClean="0">
                <a:latin typeface="Calibri (Headings)"/>
              </a:rPr>
              <a:t>biến mảng </a:t>
            </a:r>
            <a:r>
              <a:rPr lang="en-US" sz="2400" b="1" smtClean="0">
                <a:latin typeface="Calibri (Headings)"/>
              </a:rPr>
              <a:t>data_temp</a:t>
            </a:r>
            <a:r>
              <a:rPr lang="en-US" sz="2400" smtClean="0">
                <a:latin typeface="Calibri (Headings)"/>
              </a:rPr>
              <a:t>, </a:t>
            </a:r>
            <a:r>
              <a:rPr lang="en-US" sz="2400">
                <a:latin typeface="Calibri (Headings)"/>
              </a:rPr>
              <a:t>cho biết kích thước, số chiều, kiểu dữ liệu và số phần tử của biến data_temp.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4" t="36092"/>
          <a:stretch/>
        </p:blipFill>
        <p:spPr>
          <a:xfrm>
            <a:off x="472044" y="2825324"/>
            <a:ext cx="6019800" cy="269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1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180735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2) Tìm nhiệt độ cao nhất (Max) – Thấp nhất (Min) – Nhiệt độ trung bình của cả tập dữ liệu.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3) Tìm nhiệt độ cao nhất (Max) – Thấp nhất (Min) – Nhiệt độ trung bình của từng thành phố và hiển thị kết quả.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66" y="3029737"/>
            <a:ext cx="4401239" cy="3676131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060048"/>
            <a:ext cx="4300554" cy="278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8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 (Headings)"/>
              </a:rPr>
              <a:t>4) Tạo một ma trận </a:t>
            </a:r>
            <a:r>
              <a:rPr lang="en-US" sz="2400" b="1">
                <a:solidFill>
                  <a:srgbClr val="002060"/>
                </a:solidFill>
                <a:latin typeface="Calibri (Headings)"/>
              </a:rPr>
              <a:t>data_thongke</a:t>
            </a:r>
            <a:r>
              <a:rPr lang="en-US" sz="2400">
                <a:latin typeface="Calibri (Headings)"/>
              </a:rPr>
              <a:t> gồm 3 hàng x 7 cột;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 (Headings)"/>
              </a:rPr>
              <a:t>các hàng lần lượt lưu trữ dữ liệu như sau: </a:t>
            </a:r>
          </a:p>
          <a:p>
            <a:pPr marL="341313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>
                <a:latin typeface="Calibri (Headings)"/>
              </a:rPr>
              <a:t>- Hàng 0: Nhiệt độ cao nhất (Max)</a:t>
            </a:r>
          </a:p>
          <a:p>
            <a:pPr marL="341313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>
                <a:latin typeface="Calibri (Headings)"/>
              </a:rPr>
              <a:t>- Hàng 1: Nhiệt độ trung bình (Mean), làm tròn đến 2 số sau dấu phẩy</a:t>
            </a:r>
          </a:p>
          <a:p>
            <a:pPr marL="341313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>
                <a:latin typeface="Calibri (Headings)"/>
              </a:rPr>
              <a:t>- Hàng 2: Nhiệt độ nhỏ nhất (Min)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 (Headings)"/>
              </a:rPr>
              <a:t>Các cột lần lượt theo thứ tự của 6 thành phố và cột cuối cùng là cột thống kê chung cho cả 6 thành phố. Lưu ra file </a:t>
            </a:r>
            <a:r>
              <a:rPr lang="en-US" sz="2400" b="1">
                <a:solidFill>
                  <a:srgbClr val="FF0000"/>
                </a:solidFill>
                <a:latin typeface="Calibri (Headings)"/>
              </a:rPr>
              <a:t>thongke.txt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>
              <a:latin typeface="Calibri (Headings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0"/>
          <a:stretch/>
        </p:blipFill>
        <p:spPr>
          <a:xfrm>
            <a:off x="11875" y="4295417"/>
            <a:ext cx="5111543" cy="2362530"/>
          </a:xfrm>
          <a:prstGeom prst="rect">
            <a:avLst/>
          </a:prstGeom>
        </p:spPr>
      </p:pic>
      <p:pic>
        <p:nvPicPr>
          <p:cNvPr id="7" name="Picture 6" descr="Thongke - Notepa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418" y="5644426"/>
            <a:ext cx="4042454" cy="12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09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F2B14B-82EA-4064-AC61-F81730F1C942}"/>
              </a:ext>
            </a:extLst>
          </p:cNvPr>
          <p:cNvSpPr txBox="1">
            <a:spLocks/>
          </p:cNvSpPr>
          <p:nvPr/>
        </p:nvSpPr>
        <p:spPr>
          <a:xfrm>
            <a:off x="152400" y="5105400"/>
            <a:ext cx="8485200" cy="869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u="none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FF0000"/>
                </a:solidFill>
                <a:latin typeface="Calibri (Headings)"/>
              </a:rPr>
              <a:t>Các file dữ liệu cho phần bài tập: Temp.txt | Diamonds.txt học viên sử dụng </a:t>
            </a:r>
            <a:r>
              <a:rPr lang="en-US" sz="2000" b="1">
                <a:solidFill>
                  <a:srgbClr val="FF0000"/>
                </a:solidFill>
                <a:latin typeface="Calibri (Headings)"/>
              </a:rPr>
              <a:t>trong </a:t>
            </a:r>
            <a:r>
              <a:rPr lang="en-US" sz="2000" b="1" smtClean="0">
                <a:solidFill>
                  <a:srgbClr val="FF0000"/>
                </a:solidFill>
                <a:latin typeface="Calibri (Headings)"/>
              </a:rPr>
              <a:t>phần </a:t>
            </a:r>
            <a:r>
              <a:rPr lang="en-US" sz="2000" b="1">
                <a:solidFill>
                  <a:srgbClr val="FF0000"/>
                </a:solidFill>
                <a:latin typeface="Calibri (Headings)"/>
              </a:rPr>
              <a:t>Data_Excercise của bài học.</a:t>
            </a:r>
            <a:endParaRPr lang="en-US" sz="2000" b="1">
              <a:solidFill>
                <a:srgbClr val="FF0000"/>
              </a:solidFill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31285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6C1F-1045-46E6-A682-94878387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72" y="961998"/>
            <a:ext cx="8229600" cy="914400"/>
          </a:xfrm>
        </p:spPr>
        <p:txBody>
          <a:bodyPr>
            <a:normAutofit/>
          </a:bodyPr>
          <a:lstStyle/>
          <a:p>
            <a:pPr algn="l"/>
            <a:r>
              <a:rPr lang="en-US" sz="3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Bài Tập: Làm việc với numpy - 02</a:t>
            </a:r>
            <a:endParaRPr lang="vi-VN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246" y="1929061"/>
            <a:ext cx="5328099" cy="457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>
                <a:latin typeface="Calibri (Headings)"/>
              </a:rPr>
              <a:t>File dữ liệu: Diamonds.txt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2727D9E-9DB7-46DF-8676-3B60A9A3D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8" y="1992067"/>
            <a:ext cx="2743583" cy="358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D711D1-37CC-4769-9A96-94167E0470E5}"/>
              </a:ext>
            </a:extLst>
          </p:cNvPr>
          <p:cNvSpPr/>
          <p:nvPr/>
        </p:nvSpPr>
        <p:spPr>
          <a:xfrm>
            <a:off x="413518" y="2487617"/>
            <a:ext cx="478971" cy="3086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F82070-4335-48EF-839F-F078AE48B346}"/>
              </a:ext>
            </a:extLst>
          </p:cNvPr>
          <p:cNvSpPr/>
          <p:nvPr/>
        </p:nvSpPr>
        <p:spPr>
          <a:xfrm>
            <a:off x="-140" y="6246598"/>
            <a:ext cx="13578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Calibri (Headings)"/>
              </a:rPr>
              <a:t>Trọng l</a:t>
            </a:r>
            <a:r>
              <a:rPr lang="vi-VN" b="1">
                <a:latin typeface="Calibri (Headings)"/>
              </a:rPr>
              <a:t>ư</a:t>
            </a:r>
            <a:r>
              <a:rPr lang="en-US" b="1">
                <a:latin typeface="Calibri (Headings)"/>
              </a:rPr>
              <a:t>ợng</a:t>
            </a:r>
          </a:p>
          <a:p>
            <a:pPr algn="ctr"/>
            <a:r>
              <a:rPr lang="en-US" b="1">
                <a:latin typeface="Calibri (Headings)"/>
              </a:rPr>
              <a:t>(carat)</a:t>
            </a:r>
            <a:endParaRPr lang="en-US" b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C24177-0FE2-48E6-9790-F7DFEDCB85A8}"/>
              </a:ext>
            </a:extLst>
          </p:cNvPr>
          <p:cNvCxnSpPr/>
          <p:nvPr/>
        </p:nvCxnSpPr>
        <p:spPr>
          <a:xfrm flipV="1">
            <a:off x="651023" y="5573967"/>
            <a:ext cx="0" cy="5717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9EB52-B287-4B4D-A74A-8DB229308D61}"/>
              </a:ext>
            </a:extLst>
          </p:cNvPr>
          <p:cNvSpPr/>
          <p:nvPr/>
        </p:nvSpPr>
        <p:spPr>
          <a:xfrm>
            <a:off x="2127522" y="3859217"/>
            <a:ext cx="9156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Calibri (Headings)"/>
              </a:rPr>
              <a:t>Giá bán</a:t>
            </a:r>
          </a:p>
          <a:p>
            <a:pPr algn="ctr"/>
            <a:r>
              <a:rPr lang="en-US" b="1">
                <a:latin typeface="Calibri (Headings)"/>
              </a:rPr>
              <a:t>($)</a:t>
            </a:r>
            <a:endParaRPr lang="en-US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C2CEA-307C-47DC-B029-A0016D95CC58}"/>
              </a:ext>
            </a:extLst>
          </p:cNvPr>
          <p:cNvSpPr/>
          <p:nvPr/>
        </p:nvSpPr>
        <p:spPr>
          <a:xfrm>
            <a:off x="968689" y="2477721"/>
            <a:ext cx="609600" cy="308635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E4569E-A4C9-41AD-B3F9-FB12BC9898A7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1578289" y="4020896"/>
            <a:ext cx="555171" cy="9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FD34FB8-E472-4171-9839-5B949E56DB8B}"/>
              </a:ext>
            </a:extLst>
          </p:cNvPr>
          <p:cNvSpPr txBox="1">
            <a:spLocks/>
          </p:cNvSpPr>
          <p:nvPr/>
        </p:nvSpPr>
        <p:spPr bwMode="auto">
          <a:xfrm>
            <a:off x="3728246" y="2487617"/>
            <a:ext cx="4958554" cy="174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b="1">
                <a:latin typeface="Calibri (Headings)"/>
              </a:rPr>
              <a:t>Mô tả file dữ liệu: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Calibri (Headings)"/>
                <a:cs typeface="Courier New" panose="02070309020205020404" pitchFamily="49" charset="0"/>
              </a:rPr>
              <a:t>File dữ liệu lưu trữ thông số 50 viên kim c</a:t>
            </a:r>
            <a:r>
              <a:rPr lang="vi-VN" sz="2000">
                <a:latin typeface="Calibri (Headings)"/>
                <a:cs typeface="Courier New" panose="02070309020205020404" pitchFamily="49" charset="0"/>
              </a:rPr>
              <a:t>ư</a:t>
            </a:r>
            <a:r>
              <a:rPr lang="en-US" sz="2000">
                <a:latin typeface="Calibri (Headings)"/>
                <a:cs typeface="Courier New" panose="02070309020205020404" pitchFamily="49" charset="0"/>
              </a:rPr>
              <a:t>ơng bao gồm: Trọng l</a:t>
            </a:r>
            <a:r>
              <a:rPr lang="vi-VN" sz="2000">
                <a:latin typeface="Calibri (Headings)"/>
                <a:cs typeface="Courier New" panose="02070309020205020404" pitchFamily="49" charset="0"/>
              </a:rPr>
              <a:t>ư</a:t>
            </a:r>
            <a:r>
              <a:rPr lang="en-US" sz="2000">
                <a:latin typeface="Calibri (Headings)"/>
                <a:cs typeface="Courier New" panose="02070309020205020404" pitchFamily="49" charset="0"/>
              </a:rPr>
              <a:t>ợng (carat) và Giá bán ($) t</a:t>
            </a:r>
            <a:r>
              <a:rPr lang="vi-VN" sz="2000">
                <a:latin typeface="Calibri (Headings)"/>
                <a:cs typeface="Courier New" panose="02070309020205020404" pitchFamily="49" charset="0"/>
              </a:rPr>
              <a:t>ư</a:t>
            </a:r>
            <a:r>
              <a:rPr lang="en-US" sz="2000">
                <a:latin typeface="Calibri (Headings)"/>
                <a:cs typeface="Courier New" panose="02070309020205020404" pitchFamily="49" charset="0"/>
              </a:rPr>
              <a:t>ơng ứng</a:t>
            </a:r>
          </a:p>
        </p:txBody>
      </p:sp>
      <p:pic>
        <p:nvPicPr>
          <p:cNvPr id="1026" name="Picture 2" descr="Diamond Size Chart, Size of Diamonds by MM">
            <a:extLst>
              <a:ext uri="{FF2B5EF4-FFF2-40B4-BE49-F238E27FC236}">
                <a16:creationId xmlns:a16="http://schemas.microsoft.com/office/drawing/2014/main" id="{B5D38619-95C1-40E5-B414-22EC89A2D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631" y="4452937"/>
            <a:ext cx="5050369" cy="240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83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>
                <a:latin typeface="Calibri (Headings)"/>
              </a:rPr>
              <a:t>Học viên thực hiện các yêu cầu sau: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1) Đọc dữ liệu lưu trữ trong file Diamonds.txt vào </a:t>
            </a:r>
            <a:r>
              <a:rPr lang="en-US" sz="2400" smtClean="0">
                <a:latin typeface="Calibri (Headings)"/>
              </a:rPr>
              <a:t>biến kiểu mảng </a:t>
            </a:r>
            <a:r>
              <a:rPr lang="en-US" sz="2400" b="1">
                <a:latin typeface="Calibri (Headings)"/>
              </a:rPr>
              <a:t>data_diamond</a:t>
            </a:r>
            <a:r>
              <a:rPr lang="en-US" sz="2400">
                <a:latin typeface="Calibri (Headings)"/>
              </a:rPr>
              <a:t>, cho biết kích thước, số chiều, kiểu dữ liệu và số phần tử của biến data_diamond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12C429-26E4-4286-944D-23BA71154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76600"/>
            <a:ext cx="399153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7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842"/>
            <a:ext cx="8229600" cy="98393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2) Tách mảng data_diamond thành 2 vector:  diamond_size và diamond_price l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u trữ trọng l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ợng và giá bán.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03EAE10-74BA-4734-8962-33167228C5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64" b="-994"/>
          <a:stretch/>
        </p:blipFill>
        <p:spPr>
          <a:xfrm>
            <a:off x="381000" y="4509167"/>
            <a:ext cx="6706536" cy="121920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2D6411D-D51F-433B-A290-7A9115B3F9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36"/>
          <a:stretch/>
        </p:blipFill>
        <p:spPr>
          <a:xfrm>
            <a:off x="381000" y="3048000"/>
            <a:ext cx="6706536" cy="105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2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371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3) Vẽ đồ thị thể hiện mối quan hệ giữa kích th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ớc và giá bán kim c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ơng. Xác định hệ số t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ơng quan tương ứng giữa 2 thông số này.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>
              <a:latin typeface="Calibri (Headings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66B592B5-D71C-4719-A0B2-4F96CD20C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92829"/>
            <a:ext cx="7106642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94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8F5-50EB-4226-9C29-B6D108BD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914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>
                <a:latin typeface="Calibri (Headings)"/>
              </a:rPr>
              <a:t>4) Cho biết kích thước và giá trung bình của 50 viên kim c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ơng. Hiển thị giá bán của viên kim c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ơng có trọng l</a:t>
            </a:r>
            <a:r>
              <a:rPr lang="vi-VN" sz="2400">
                <a:latin typeface="Calibri (Headings)"/>
              </a:rPr>
              <a:t>ư</a:t>
            </a:r>
            <a:r>
              <a:rPr lang="en-US" sz="2400">
                <a:latin typeface="Calibri (Headings)"/>
              </a:rPr>
              <a:t>ợng 3.01 carat.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>
              <a:latin typeface="Calibri (Headings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E5AB-3E94-4E85-AA71-FB3CDA38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FBBB-9496-4689-A798-1FE0B5178481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56413-6C3F-4FAD-B9BD-689B9F8A3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/>
          <a:stretch/>
        </p:blipFill>
        <p:spPr>
          <a:xfrm>
            <a:off x="228601" y="2810470"/>
            <a:ext cx="4952999" cy="777874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EBF854A3-D6D6-41CE-B861-999645AE9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3928071"/>
            <a:ext cx="7838753" cy="120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26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B2B217-453D-46D2-9F7E-3FB388A4B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855118"/>
            <a:ext cx="6858000" cy="1147763"/>
          </a:xfrm>
        </p:spPr>
        <p:txBody>
          <a:bodyPr/>
          <a:lstStyle/>
          <a:p>
            <a:r>
              <a:rPr lang="en-US" b="1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2D272-07C3-4CF7-BF68-440BB6DB5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2D3EFBBB-9496-4689-A798-1FE0B5178481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09815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Bài 4: PHẦN BÀI TẬP&amp;quot;&quot;/&gt;&lt;property id=&quot;20307&quot; value=&quot;256&quot;/&gt;&lt;/object&gt;&lt;object type=&quot;3&quot; unique_id=&quot;10041&quot;&gt;&lt;property id=&quot;20148&quot; value=&quot;5&quot;/&gt;&lt;property id=&quot;20300&quot; value=&quot;Slide 2 - &amp;quot;BÀI TẬP 1&amp;quot;&quot;/&gt;&lt;property id=&quot;20307&quot; value=&quot;332&quot;/&gt;&lt;/object&gt;&lt;object type=&quot;3&quot; unique_id=&quot;18595&quot;&gt;&lt;property id=&quot;20148&quot; value=&quot;5&quot;/&gt;&lt;property id=&quot;20300&quot; value=&quot;Slide 15 - &amp;quot;Thank you!&amp;quot;&quot;/&gt;&lt;property id=&quot;20307&quot; value=&quot;391&quot;/&gt;&lt;/object&gt;&lt;object type=&quot;3&quot; unique_id=&quot;19611&quot;&gt;&lt;property id=&quot;20148&quot; value=&quot;5&quot;/&gt;&lt;property id=&quot;20300&quot; value=&quot;Slide 3 - &amp;quot;Bài Tập: Làm việc với numpy - 01&amp;quot;&quot;/&gt;&lt;property id=&quot;20307&quot; value=&quot;455&quot;/&gt;&lt;/object&gt;&lt;object type=&quot;3&quot; unique_id=&quot;19612&quot;&gt;&lt;property id=&quot;20148&quot; value=&quot;5&quot;/&gt;&lt;property id=&quot;20300&quot; value=&quot;Slide 4&quot;/&gt;&lt;property id=&quot;20307&quot; value=&quot;453&quot;/&gt;&lt;/object&gt;&lt;object type=&quot;3&quot; unique_id=&quot;19613&quot;&gt;&lt;property id=&quot;20148&quot; value=&quot;5&quot;/&gt;&lt;property id=&quot;20300&quot; value=&quot;Slide 5&quot;/&gt;&lt;property id=&quot;20307&quot; value=&quot;454&quot;/&gt;&lt;/object&gt;&lt;object type=&quot;3&quot; unique_id=&quot;19614&quot;&gt;&lt;property id=&quot;20148&quot; value=&quot;5&quot;/&gt;&lt;property id=&quot;20300&quot; value=&quot;Slide 6&quot;/&gt;&lt;property id=&quot;20307&quot; value=&quot;456&quot;/&gt;&lt;/object&gt;&lt;object type=&quot;3&quot; unique_id=&quot;19615&quot;&gt;&lt;property id=&quot;20148&quot; value=&quot;5&quot;/&gt;&lt;property id=&quot;20300&quot; value=&quot;Slide 7&quot;/&gt;&lt;property id=&quot;20307&quot; value=&quot;457&quot;/&gt;&lt;/object&gt;&lt;object type=&quot;3&quot; unique_id=&quot;19616&quot;&gt;&lt;property id=&quot;20148&quot; value=&quot;5&quot;/&gt;&lt;property id=&quot;20300&quot; value=&quot;Slide 8&quot;/&gt;&lt;property id=&quot;20307&quot; value=&quot;458&quot;/&gt;&lt;/object&gt;&lt;object type=&quot;3&quot; unique_id=&quot;19858&quot;&gt;&lt;property id=&quot;20148&quot; value=&quot;5&quot;/&gt;&lt;property id=&quot;20300&quot; value=&quot;Slide 9 - &amp;quot;BÀI TẬP 2&amp;quot;&quot;/&gt;&lt;property id=&quot;20307&quot; value=&quot;459&quot;/&gt;&lt;/object&gt;&lt;object type=&quot;3&quot; unique_id=&quot;19859&quot;&gt;&lt;property id=&quot;20148&quot; value=&quot;5&quot;/&gt;&lt;property id=&quot;20300&quot; value=&quot;Slide 10 - &amp;quot;Bài Tập: Làm việc với numpy - 02&amp;quot;&quot;/&gt;&lt;property id=&quot;20307&quot; value=&quot;460&quot;/&gt;&lt;/object&gt;&lt;object type=&quot;3&quot; unique_id=&quot;20432&quot;&gt;&lt;property id=&quot;20148&quot; value=&quot;5&quot;/&gt;&lt;property id=&quot;20300&quot; value=&quot;Slide 11&quot;/&gt;&lt;property id=&quot;20307&quot; value=&quot;461&quot;/&gt;&lt;/object&gt;&lt;object type=&quot;3&quot; unique_id=&quot;20503&quot;&gt;&lt;property id=&quot;20148&quot; value=&quot;5&quot;/&gt;&lt;property id=&quot;20300&quot; value=&quot;Slide 12&quot;/&gt;&lt;property id=&quot;20307&quot; value=&quot;463&quot;/&gt;&lt;/object&gt;&lt;object type=&quot;3&quot; unique_id=&quot;20504&quot;&gt;&lt;property id=&quot;20148&quot; value=&quot;5&quot;/&gt;&lt;property id=&quot;20300&quot; value=&quot;Slide 13&quot;/&gt;&lt;property id=&quot;20307&quot; value=&quot;462&quot;/&gt;&lt;/object&gt;&lt;object type=&quot;3&quot; unique_id=&quot;20505&quot;&gt;&lt;property id=&quot;20148&quot; value=&quot;5&quot;/&gt;&lt;property id=&quot;20300&quot; value=&quot;Slide 14&quot;/&gt;&lt;property id=&quot;20307&quot; value=&quot;464&quot;/&gt;&lt;/object&gt;&lt;/object&gt;&lt;object type=&quot;8&quot; unique_id=&quot;1001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asicML-Lec01-CourseIntroduc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Lec3_EdgeDetection</Template>
  <TotalTime>10415</TotalTime>
  <Words>550</Words>
  <Application>Microsoft Office PowerPoint</Application>
  <PresentationFormat>On-screen Show (4:3)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(Headings)</vt:lpstr>
      <vt:lpstr>Courier New</vt:lpstr>
      <vt:lpstr>Times New Roman</vt:lpstr>
      <vt:lpstr>BasicML-Lec01-CourseIntroduction</vt:lpstr>
      <vt:lpstr>1_Office Theme</vt:lpstr>
      <vt:lpstr>Office Theme</vt:lpstr>
      <vt:lpstr>Bài 4: PHẦN BÀI TẬP</vt:lpstr>
      <vt:lpstr>BÀI TẬP 1</vt:lpstr>
      <vt:lpstr>Bài Tập: Làm việc với numpy - 01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2</vt:lpstr>
      <vt:lpstr>Bài Tập: Làm việc với numpy - 02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Features and Image Matching</dc:title>
  <dc:creator>Vu Hai</dc:creator>
  <cp:lastModifiedBy>Đặng Nam</cp:lastModifiedBy>
  <cp:revision>199</cp:revision>
  <dcterms:created xsi:type="dcterms:W3CDTF">2018-12-04T08:46:19Z</dcterms:created>
  <dcterms:modified xsi:type="dcterms:W3CDTF">2020-11-06T09:35:07Z</dcterms:modified>
</cp:coreProperties>
</file>